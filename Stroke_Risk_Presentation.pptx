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6167484" name="Slide Image Placeholder 1"/>
          <p:cNvSpPr>
            <a:spLocks noGrp="1"/>
          </p:cNvSpPr>
          <p:nvPr>
            <p:ph type="sldImg" idx="2"/>
          </p:nvPr>
        </p:nvSpPr>
        <p:spPr bwMode="auto"/>
      </p:sp>
      <p:sp>
        <p:nvSpPr>
          <p:cNvPr id="680533103" name="Notes Placeholder 2"/>
          <p:cNvSpPr>
            <a:spLocks noGrp="1"/>
          </p:cNvSpPr>
          <p:nvPr>
            <p:ph type="body" sz="quarter" idx="3"/>
          </p:nvPr>
        </p:nvSpPr>
        <p:spPr bwMode="auto"/>
        <p:txBody>
          <a:bodyPr/>
          <a:lstStyle/>
          <a:p>
            <a:pPr>
              <a:defRPr/>
            </a:pPr>
            <a:r>
              <a:rPr/>
              <a:t>Hello everyone. Today I’m excited to present my final project for MSCS 634: Stroke Risk Prediction Using Data Mining. I used a real Kaggle healthcare dataset with over 5,100 records to go through the full data mining lifecycle. In the next few minutes, I’ll walk you through the dataset, key findings from every deliverable, visualizations, recommendations, and ethical considerations. Let’s get started!</a:t>
            </a:r>
            <a:endParaRPr/>
          </a:p>
        </p:txBody>
      </p:sp>
      <p:sp>
        <p:nvSpPr>
          <p:cNvPr id="2121657044"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1288351" name="Slide Image Placeholder 1"/>
          <p:cNvSpPr>
            <a:spLocks noGrp="1"/>
          </p:cNvSpPr>
          <p:nvPr>
            <p:ph type="sldImg" idx="2"/>
          </p:nvPr>
        </p:nvSpPr>
        <p:spPr bwMode="auto"/>
      </p:sp>
      <p:sp>
        <p:nvSpPr>
          <p:cNvPr id="2000548893" name="Notes Placeholder 2"/>
          <p:cNvSpPr>
            <a:spLocks noGrp="1"/>
          </p:cNvSpPr>
          <p:nvPr>
            <p:ph type="body" sz="quarter" idx="3"/>
          </p:nvPr>
        </p:nvSpPr>
        <p:spPr bwMode="auto"/>
        <p:txBody>
          <a:bodyPr/>
          <a:lstStyle/>
          <a:p>
            <a:pPr>
              <a:defRPr/>
            </a:pPr>
            <a:r>
              <a:rPr/>
              <a:t>I selected the Stroke Prediction Dataset because it perfectly matches the assignment criteria: more than 500 records, 12 rich attributes, and a clear binary target. Stroke is a major global health issue, so this project has practical importance for hospitals and public health programs. The dataset is imbalanced, which made the modeling especially interesting.</a:t>
            </a:r>
            <a:endParaRPr/>
          </a:p>
        </p:txBody>
      </p:sp>
      <p:sp>
        <p:nvSpPr>
          <p:cNvPr id="165729291"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3DB12D-4C9D-5BDA-EB38-441E872BB08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0512420" name="Slide Image Placeholder 1"/>
          <p:cNvSpPr>
            <a:spLocks noGrp="1"/>
          </p:cNvSpPr>
          <p:nvPr>
            <p:ph type="sldImg" idx="2"/>
          </p:nvPr>
        </p:nvSpPr>
        <p:spPr bwMode="auto"/>
      </p:sp>
      <p:sp>
        <p:nvSpPr>
          <p:cNvPr id="188633319" name="Notes Placeholder 2"/>
          <p:cNvSpPr>
            <a:spLocks noGrp="1"/>
          </p:cNvSpPr>
          <p:nvPr>
            <p:ph type="body" sz="quarter" idx="3"/>
          </p:nvPr>
        </p:nvSpPr>
        <p:spPr bwMode="auto"/>
        <p:txBody>
          <a:bodyPr/>
          <a:lstStyle/>
          <a:p>
            <a:pPr>
              <a:defRPr/>
            </a:pPr>
            <a:r>
              <a:rPr/>
              <a:t>First, I cleaned the data by removing the ID column and filling missing BMI values with the median to keep the distribution realistic. The age histogram shows stroke risk clearly increases after middle age. The bar chart on the right reveals the big challenge of this project — extreme class imbalance — which influenced every modeling decision I made later.</a:t>
            </a:r>
            <a:endParaRPr/>
          </a:p>
        </p:txBody>
      </p:sp>
      <p:sp>
        <p:nvSpPr>
          <p:cNvPr id="1780801918"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84DD0EE-4E32-C955-1484-5A921F0B7CB1}"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8692662" name="Slide Image Placeholder 1"/>
          <p:cNvSpPr>
            <a:spLocks noGrp="1"/>
          </p:cNvSpPr>
          <p:nvPr>
            <p:ph type="sldImg" idx="2"/>
          </p:nvPr>
        </p:nvSpPr>
        <p:spPr bwMode="auto"/>
      </p:sp>
      <p:sp>
        <p:nvSpPr>
          <p:cNvPr id="113853696" name="Notes Placeholder 2"/>
          <p:cNvSpPr>
            <a:spLocks noGrp="1"/>
          </p:cNvSpPr>
          <p:nvPr>
            <p:ph type="body" sz="quarter" idx="3"/>
          </p:nvPr>
        </p:nvSpPr>
        <p:spPr bwMode="auto"/>
        <p:txBody>
          <a:bodyPr/>
          <a:lstStyle/>
          <a:p>
            <a:pPr>
              <a:defRPr/>
            </a:pPr>
            <a:r>
              <a:rPr/>
              <a:t>In Deliverable 2 I built a regression model to predict average glucose level. After encoding categorical variables, the OLS model gave an R-squared of just 0.0981. This modest result taught me that linear models have limits in complex health data and pushed me toward classification and unsupervised techniques in the next phase.</a:t>
            </a:r>
            <a:endParaRPr/>
          </a:p>
        </p:txBody>
      </p:sp>
      <p:sp>
        <p:nvSpPr>
          <p:cNvPr id="1924243683"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2175564" name="Slide Image Placeholder 1"/>
          <p:cNvSpPr>
            <a:spLocks noGrp="1"/>
          </p:cNvSpPr>
          <p:nvPr>
            <p:ph type="sldImg" idx="2"/>
          </p:nvPr>
        </p:nvSpPr>
        <p:spPr bwMode="auto"/>
      </p:sp>
      <p:sp>
        <p:nvSpPr>
          <p:cNvPr id="1160955230" name="Notes Placeholder 2"/>
          <p:cNvSpPr>
            <a:spLocks noGrp="1"/>
          </p:cNvSpPr>
          <p:nvPr>
            <p:ph type="body" sz="quarter" idx="3"/>
          </p:nvPr>
        </p:nvSpPr>
        <p:spPr bwMode="auto"/>
        <p:txBody>
          <a:bodyPr/>
          <a:lstStyle/>
          <a:p>
            <a:pPr>
              <a:defRPr/>
            </a:pPr>
            <a:r>
              <a:rPr/>
              <a:t>For classification I trained Decision Tree and k-NN models, then tuned the Decision Tree with GridSearchCV. It reached 92% accuracy but only 0.1684 F1-score because of imbalance. Looking at the confusion matrix, the model catches most healthy patients but misses many actual strokes. The ROC curve with AUC 0.607 shows we’re better than random but still have room to improve.</a:t>
            </a:r>
            <a:endParaRPr/>
          </a:p>
        </p:txBody>
      </p:sp>
      <p:sp>
        <p:nvSpPr>
          <p:cNvPr id="1796413710"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32EAB2-D160-B5F6-F20A-E63E6D1E0783}"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9444576" name="Slide Image Placeholder 1"/>
          <p:cNvSpPr>
            <a:spLocks noGrp="1"/>
          </p:cNvSpPr>
          <p:nvPr>
            <p:ph type="sldImg" idx="2"/>
          </p:nvPr>
        </p:nvSpPr>
        <p:spPr bwMode="auto"/>
      </p:sp>
      <p:sp>
        <p:nvSpPr>
          <p:cNvPr id="66489231" name="Notes Placeholder 2"/>
          <p:cNvSpPr>
            <a:spLocks noGrp="1"/>
          </p:cNvSpPr>
          <p:nvPr>
            <p:ph type="body" sz="quarter" idx="3"/>
          </p:nvPr>
        </p:nvSpPr>
        <p:spPr bwMode="auto"/>
        <p:txBody>
          <a:bodyPr/>
          <a:lstStyle/>
          <a:p>
            <a:pPr>
              <a:defRPr/>
            </a:pPr>
            <a:r>
              <a:rPr/>
              <a:t>Clustering was one of my favorite parts. The Elbow plot showed k=4 as optimal. The PCA scatter plot reveals four distinct patient segments, with one cluster having a 13.4% stroke rate — very useful for targeted prevention. Association rule mining then gave me interpretable rules, such as strong links between specific demographics and stroke probability.</a:t>
            </a:r>
            <a:endParaRPr/>
          </a:p>
        </p:txBody>
      </p:sp>
      <p:sp>
        <p:nvSpPr>
          <p:cNvPr id="27649391"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8BD2914-80BE-01E7-DA51-9A6C1468AC14}"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9511851" name="Slide Image Placeholder 1"/>
          <p:cNvSpPr>
            <a:spLocks noGrp="1"/>
          </p:cNvSpPr>
          <p:nvPr>
            <p:ph type="sldImg" idx="2"/>
          </p:nvPr>
        </p:nvSpPr>
        <p:spPr bwMode="auto"/>
      </p:sp>
      <p:sp>
        <p:nvSpPr>
          <p:cNvPr id="1987192400" name="Notes Placeholder 2"/>
          <p:cNvSpPr>
            <a:spLocks noGrp="1"/>
          </p:cNvSpPr>
          <p:nvPr>
            <p:ph type="body" sz="quarter" idx="3"/>
          </p:nvPr>
        </p:nvSpPr>
        <p:spPr bwMode="auto"/>
        <p:txBody>
          <a:bodyPr/>
          <a:lstStyle/>
          <a:p>
            <a:pPr>
              <a:defRPr/>
            </a:pPr>
            <a:r>
              <a:rPr/>
              <a:t>Putting everything together, age and hypertension consistently stood out. I recommend using the Decision Tree in clinics and focusing prevention on the highest-risk cluster. On the ethics side, I used an anonymized dataset, applied consistent preprocessing, and focused on F1-score to avoid bias toward the majority class.</a:t>
            </a:r>
            <a:endParaRPr/>
          </a:p>
        </p:txBody>
      </p:sp>
      <p:sp>
        <p:nvSpPr>
          <p:cNvPr id="848263768"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4778164" name="Slide Image Placeholder 1"/>
          <p:cNvSpPr>
            <a:spLocks noGrp="1"/>
          </p:cNvSpPr>
          <p:nvPr>
            <p:ph type="sldImg" idx="2"/>
          </p:nvPr>
        </p:nvSpPr>
        <p:spPr bwMode="auto"/>
      </p:sp>
      <p:sp>
        <p:nvSpPr>
          <p:cNvPr id="2029535337" name="Notes Placeholder 2"/>
          <p:cNvSpPr>
            <a:spLocks noGrp="1"/>
          </p:cNvSpPr>
          <p:nvPr>
            <p:ph type="body" sz="quarter" idx="3"/>
          </p:nvPr>
        </p:nvSpPr>
        <p:spPr bwMode="auto"/>
        <p:txBody>
          <a:bodyPr/>
          <a:lstStyle/>
          <a:p>
            <a:pPr>
              <a:defRPr/>
            </a:pPr>
            <a:r>
              <a:rPr/>
              <a:t>In conclusion, this project showed me how powerful data mining can be in healthcare. I started with raw data and ended with clear, visual, and actionable insights. All code, visualizations, and this report are in my public GitHub repository. For future work I’d like to try ensemble models and add fairness checks. Thank you for watching! I’m happy to answer any questions.</a:t>
            </a:r>
            <a:endParaRPr/>
          </a:p>
        </p:txBody>
      </p:sp>
      <p:sp>
        <p:nvSpPr>
          <p:cNvPr id="1895989278"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005162897"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832585701"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80432539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2268095" name="Footer Placeholder 4"/>
          <p:cNvSpPr>
            <a:spLocks noGrp="1"/>
          </p:cNvSpPr>
          <p:nvPr>
            <p:ph type="ftr" sz="quarter" idx="11"/>
          </p:nvPr>
        </p:nvSpPr>
        <p:spPr bwMode="auto"/>
        <p:txBody>
          <a:bodyPr/>
          <a:lstStyle/>
          <a:p>
            <a:pPr>
              <a:defRPr/>
            </a:pPr>
            <a:endParaRPr lang="en-US"/>
          </a:p>
        </p:txBody>
      </p:sp>
      <p:sp>
        <p:nvSpPr>
          <p:cNvPr id="133830148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86600815" name="Title 1"/>
          <p:cNvSpPr>
            <a:spLocks noGrp="1"/>
          </p:cNvSpPr>
          <p:nvPr>
            <p:ph type="title"/>
          </p:nvPr>
        </p:nvSpPr>
        <p:spPr bwMode="auto"/>
        <p:txBody>
          <a:bodyPr/>
          <a:lstStyle/>
          <a:p>
            <a:pPr>
              <a:defRPr/>
            </a:pPr>
            <a:r>
              <a:rPr lang="en-US"/>
              <a:t>Click to edit Master title style</a:t>
            </a:r>
            <a:endParaRPr lang="en-US"/>
          </a:p>
        </p:txBody>
      </p:sp>
      <p:sp>
        <p:nvSpPr>
          <p:cNvPr id="917946134"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9639471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64594160" name="Footer Placeholder 4"/>
          <p:cNvSpPr>
            <a:spLocks noGrp="1"/>
          </p:cNvSpPr>
          <p:nvPr>
            <p:ph type="ftr" sz="quarter" idx="11"/>
          </p:nvPr>
        </p:nvSpPr>
        <p:spPr bwMode="auto"/>
        <p:txBody>
          <a:bodyPr/>
          <a:lstStyle/>
          <a:p>
            <a:pPr>
              <a:defRPr/>
            </a:pPr>
            <a:endParaRPr lang="en-US"/>
          </a:p>
        </p:txBody>
      </p:sp>
      <p:sp>
        <p:nvSpPr>
          <p:cNvPr id="207683923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809167210"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849673179"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982425497"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41657291" name="Footer Placeholder 4"/>
          <p:cNvSpPr>
            <a:spLocks noGrp="1"/>
          </p:cNvSpPr>
          <p:nvPr>
            <p:ph type="ftr" sz="quarter" idx="11"/>
          </p:nvPr>
        </p:nvSpPr>
        <p:spPr bwMode="auto"/>
        <p:txBody>
          <a:bodyPr/>
          <a:lstStyle/>
          <a:p>
            <a:pPr>
              <a:defRPr/>
            </a:pPr>
            <a:endParaRPr lang="en-US"/>
          </a:p>
        </p:txBody>
      </p:sp>
      <p:sp>
        <p:nvSpPr>
          <p:cNvPr id="39762162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235606846" name="Title 1"/>
          <p:cNvSpPr>
            <a:spLocks noGrp="1"/>
          </p:cNvSpPr>
          <p:nvPr>
            <p:ph type="title"/>
          </p:nvPr>
        </p:nvSpPr>
        <p:spPr bwMode="auto"/>
        <p:txBody>
          <a:bodyPr/>
          <a:lstStyle/>
          <a:p>
            <a:pPr>
              <a:defRPr/>
            </a:pPr>
            <a:r>
              <a:rPr lang="en-US"/>
              <a:t>Click to edit Master title style</a:t>
            </a:r>
            <a:endParaRPr lang="en-US"/>
          </a:p>
        </p:txBody>
      </p:sp>
      <p:sp>
        <p:nvSpPr>
          <p:cNvPr id="1256505994"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0214794"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9986945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15567013" name="Footer Placeholder 5"/>
          <p:cNvSpPr>
            <a:spLocks noGrp="1"/>
          </p:cNvSpPr>
          <p:nvPr>
            <p:ph type="ftr" sz="quarter" idx="11"/>
          </p:nvPr>
        </p:nvSpPr>
        <p:spPr bwMode="auto"/>
        <p:txBody>
          <a:bodyPr/>
          <a:lstStyle/>
          <a:p>
            <a:pPr>
              <a:defRPr/>
            </a:pPr>
            <a:endParaRPr lang="en-US"/>
          </a:p>
        </p:txBody>
      </p:sp>
      <p:sp>
        <p:nvSpPr>
          <p:cNvPr id="190890572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59225082"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76726136"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6933687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8147303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07596330"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19476922"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2043439607" name="Footer Placeholder 7"/>
          <p:cNvSpPr>
            <a:spLocks noGrp="1"/>
          </p:cNvSpPr>
          <p:nvPr>
            <p:ph type="ftr" sz="quarter" idx="11"/>
          </p:nvPr>
        </p:nvSpPr>
        <p:spPr bwMode="auto"/>
        <p:txBody>
          <a:bodyPr/>
          <a:lstStyle/>
          <a:p>
            <a:pPr>
              <a:defRPr/>
            </a:pPr>
            <a:endParaRPr lang="en-US"/>
          </a:p>
        </p:txBody>
      </p:sp>
      <p:sp>
        <p:nvSpPr>
          <p:cNvPr id="1360147486"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800058732" name="Title 1"/>
          <p:cNvSpPr>
            <a:spLocks noGrp="1"/>
          </p:cNvSpPr>
          <p:nvPr>
            <p:ph type="title"/>
          </p:nvPr>
        </p:nvSpPr>
        <p:spPr bwMode="auto"/>
        <p:txBody>
          <a:bodyPr/>
          <a:lstStyle/>
          <a:p>
            <a:pPr>
              <a:defRPr/>
            </a:pPr>
            <a:r>
              <a:rPr lang="en-US"/>
              <a:t>Click to edit Master title style</a:t>
            </a:r>
            <a:endParaRPr lang="en-US"/>
          </a:p>
        </p:txBody>
      </p:sp>
      <p:sp>
        <p:nvSpPr>
          <p:cNvPr id="1672433373"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848241523" name="Footer Placeholder 3"/>
          <p:cNvSpPr>
            <a:spLocks noGrp="1"/>
          </p:cNvSpPr>
          <p:nvPr>
            <p:ph type="ftr" sz="quarter" idx="11"/>
          </p:nvPr>
        </p:nvSpPr>
        <p:spPr bwMode="auto"/>
        <p:txBody>
          <a:bodyPr/>
          <a:lstStyle/>
          <a:p>
            <a:pPr>
              <a:defRPr/>
            </a:pPr>
            <a:endParaRPr lang="en-US"/>
          </a:p>
        </p:txBody>
      </p:sp>
      <p:sp>
        <p:nvSpPr>
          <p:cNvPr id="1000026396"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90570776"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57415296" name="Footer Placeholder 2"/>
          <p:cNvSpPr>
            <a:spLocks noGrp="1"/>
          </p:cNvSpPr>
          <p:nvPr>
            <p:ph type="ftr" sz="quarter" idx="11"/>
          </p:nvPr>
        </p:nvSpPr>
        <p:spPr bwMode="auto"/>
        <p:txBody>
          <a:bodyPr/>
          <a:lstStyle/>
          <a:p>
            <a:pPr>
              <a:defRPr/>
            </a:pPr>
            <a:endParaRPr lang="en-US"/>
          </a:p>
        </p:txBody>
      </p:sp>
      <p:sp>
        <p:nvSpPr>
          <p:cNvPr id="432663448"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580317867"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65919069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4422340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1826465"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98688431" name="Footer Placeholder 5"/>
          <p:cNvSpPr>
            <a:spLocks noGrp="1"/>
          </p:cNvSpPr>
          <p:nvPr>
            <p:ph type="ftr" sz="quarter" idx="11"/>
          </p:nvPr>
        </p:nvSpPr>
        <p:spPr bwMode="auto"/>
        <p:txBody>
          <a:bodyPr/>
          <a:lstStyle/>
          <a:p>
            <a:pPr>
              <a:defRPr/>
            </a:pPr>
            <a:endParaRPr lang="en-US"/>
          </a:p>
        </p:txBody>
      </p:sp>
      <p:sp>
        <p:nvSpPr>
          <p:cNvPr id="107223342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24294161"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365334440"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686580418"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144196203"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078206803" name="Footer Placeholder 5"/>
          <p:cNvSpPr>
            <a:spLocks noGrp="1"/>
          </p:cNvSpPr>
          <p:nvPr>
            <p:ph type="ftr" sz="quarter" idx="11"/>
          </p:nvPr>
        </p:nvSpPr>
        <p:spPr bwMode="auto"/>
        <p:txBody>
          <a:bodyPr/>
          <a:lstStyle/>
          <a:p>
            <a:pPr>
              <a:defRPr/>
            </a:pPr>
            <a:endParaRPr lang="en-US"/>
          </a:p>
        </p:txBody>
      </p:sp>
      <p:sp>
        <p:nvSpPr>
          <p:cNvPr id="1135052157"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428421783" name="Title 1"/>
          <p:cNvSpPr>
            <a:spLocks noGrp="1"/>
          </p:cNvSpPr>
          <p:nvPr>
            <p:ph type="title"/>
          </p:nvPr>
        </p:nvSpPr>
        <p:spPr bwMode="auto"/>
        <p:txBody>
          <a:bodyPr/>
          <a:lstStyle/>
          <a:p>
            <a:pPr>
              <a:defRPr/>
            </a:pPr>
            <a:r>
              <a:rPr lang="en-US"/>
              <a:t>Click to edit Master title style</a:t>
            </a:r>
            <a:endParaRPr lang="en-US"/>
          </a:p>
        </p:txBody>
      </p:sp>
      <p:sp>
        <p:nvSpPr>
          <p:cNvPr id="1826873242"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79671946"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520725245" name="Footer Placeholder 4"/>
          <p:cNvSpPr>
            <a:spLocks noGrp="1"/>
          </p:cNvSpPr>
          <p:nvPr>
            <p:ph type="ftr" sz="quarter" idx="11"/>
          </p:nvPr>
        </p:nvSpPr>
        <p:spPr bwMode="auto"/>
        <p:txBody>
          <a:bodyPr/>
          <a:lstStyle/>
          <a:p>
            <a:pPr>
              <a:defRPr/>
            </a:pPr>
            <a:endParaRPr lang="en-US"/>
          </a:p>
        </p:txBody>
      </p:sp>
      <p:sp>
        <p:nvSpPr>
          <p:cNvPr id="1911729647"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253383914"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861383240"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5061495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51867479" name="Footer Placeholder 4"/>
          <p:cNvSpPr>
            <a:spLocks noGrp="1"/>
          </p:cNvSpPr>
          <p:nvPr>
            <p:ph type="ftr" sz="quarter" idx="11"/>
          </p:nvPr>
        </p:nvSpPr>
        <p:spPr bwMode="auto"/>
        <p:txBody>
          <a:bodyPr/>
          <a:lstStyle/>
          <a:p>
            <a:pPr>
              <a:defRPr/>
            </a:pPr>
            <a:endParaRPr lang="en-US"/>
          </a:p>
        </p:txBody>
      </p:sp>
      <p:sp>
        <p:nvSpPr>
          <p:cNvPr id="97302391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95334900"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43707534"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62975231"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533261699"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946951053"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1545548" name="Title 1"/>
          <p:cNvSpPr>
            <a:spLocks noGrp="1"/>
          </p:cNvSpPr>
          <p:nvPr>
            <p:ph type="ctrTitle"/>
          </p:nvPr>
        </p:nvSpPr>
        <p:spPr bwMode="auto"/>
        <p:txBody>
          <a:bodyPr/>
          <a:lstStyle/>
          <a:p>
            <a:pPr>
              <a:defRPr/>
            </a:pPr>
            <a:r>
              <a:rPr/>
              <a:t>Stroke Risk Prediction Using Data Mining Techniques</a:t>
            </a:r>
            <a:endParaRPr/>
          </a:p>
        </p:txBody>
      </p:sp>
      <p:sp>
        <p:nvSpPr>
          <p:cNvPr id="1293713846" name="Subtitle 2"/>
          <p:cNvSpPr>
            <a:spLocks noGrp="1"/>
          </p:cNvSpPr>
          <p:nvPr>
            <p:ph type="subTitle" idx="1"/>
          </p:nvPr>
        </p:nvSpPr>
        <p:spPr bwMode="auto"/>
        <p:txBody>
          <a:bodyPr vertOverflow="overflow" horzOverflow="overflow" vert="horz" wrap="square" lIns="91440" tIns="45720" rIns="91440" bIns="45720" numCol="1" spcCol="0" rtlCol="0" fromWordArt="0" anchor="t" anchorCtr="0" forceAA="0" upright="0" compatLnSpc="0">
            <a:normAutofit fontScale="50000" lnSpcReduction="10000"/>
          </a:bodyPr>
          <a:lstStyle/>
          <a:p>
            <a:pPr>
              <a:defRPr/>
            </a:pPr>
            <a:r>
              <a:rPr lang="en-US" sz="3200" b="0" i="0" u="none" strike="noStrike" cap="none" spc="0">
                <a:solidFill>
                  <a:schemeClr val="tx1">
                    <a:tint val="75000"/>
                  </a:schemeClr>
                </a:solidFill>
                <a:latin typeface="Calibri"/>
                <a:ea typeface="Calibri"/>
                <a:cs typeface="Calibri"/>
              </a:rPr>
              <a:t>Project Deliverable 4: Final Insights, Recommendations, and Presentation</a:t>
            </a:r>
            <a:endParaRPr lang="en-US" sz="3200" b="0" i="0" u="none" strike="noStrike" cap="none" spc="0">
              <a:solidFill>
                <a:schemeClr val="tx1">
                  <a:tint val="75000"/>
                </a:schemeClr>
              </a:solidFill>
              <a:latin typeface="Calibri"/>
              <a:cs typeface="Calibri"/>
            </a:endParaRPr>
          </a:p>
          <a:p>
            <a:pPr>
              <a:defRPr/>
            </a:pPr>
            <a:r>
              <a:rPr lang="en-US" sz="3200" b="0" i="0" u="none" strike="noStrike" cap="none" spc="0">
                <a:solidFill>
                  <a:schemeClr val="tx1">
                    <a:tint val="75000"/>
                  </a:schemeClr>
                </a:solidFill>
                <a:latin typeface="Calibri"/>
                <a:ea typeface="Calibri"/>
                <a:cs typeface="Calibri"/>
              </a:rPr>
              <a:t>Advanced Data Mining for Data-Driven Insights and Predictive Modeling</a:t>
            </a:r>
            <a:endParaRPr/>
          </a:p>
          <a:p>
            <a:pPr>
              <a:defRPr/>
            </a:pPr>
            <a:endParaRPr/>
          </a:p>
          <a:p>
            <a:pPr>
              <a:defRPr/>
            </a:pPr>
            <a:r>
              <a:rPr/>
              <a:t>Vinod</a:t>
            </a:r>
            <a:endParaRPr/>
          </a:p>
          <a:p>
            <a:pPr>
              <a:defRPr/>
            </a:pPr>
            <a:r>
              <a:rPr/>
              <a:t>MSCS 634</a:t>
            </a:r>
            <a:endParaRPr/>
          </a:p>
          <a:p>
            <a:pPr>
              <a:defRPr/>
            </a:pPr>
            <a:r>
              <a:rPr/>
              <a:t>April 18,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2478755" name="Title 1"/>
          <p:cNvSpPr>
            <a:spLocks noGrp="1"/>
          </p:cNvSpPr>
          <p:nvPr>
            <p:ph type="title"/>
          </p:nvPr>
        </p:nvSpPr>
        <p:spPr bwMode="auto"/>
        <p:txBody>
          <a:bodyPr/>
          <a:lstStyle/>
          <a:p>
            <a:pPr>
              <a:defRPr/>
            </a:pPr>
            <a:r>
              <a:rPr/>
              <a:t>Project Overview &amp; Dataset Justification</a:t>
            </a:r>
            <a:endParaRPr/>
          </a:p>
        </p:txBody>
      </p:sp>
      <p:sp>
        <p:nvSpPr>
          <p:cNvPr id="2138786474" name="Content Placeholder 2"/>
          <p:cNvSpPr>
            <a:spLocks noGrp="1"/>
          </p:cNvSpPr>
          <p:nvPr>
            <p:ph idx="1"/>
          </p:nvPr>
        </p:nvSpPr>
        <p:spPr bwMode="auto"/>
        <p:txBody>
          <a:bodyPr/>
          <a:lstStyle/>
          <a:p>
            <a:pPr>
              <a:defRPr/>
            </a:pPr>
            <a:r>
              <a:rPr/>
              <a:t>Dataset: Stroke Prediction Dataset (Kaggle)</a:t>
            </a:r>
            <a:endParaRPr/>
          </a:p>
          <a:p>
            <a:pPr>
              <a:defRPr/>
            </a:pPr>
            <a:r>
              <a:rPr/>
              <a:t>5,110 records, 12 attributes</a:t>
            </a:r>
            <a:endParaRPr/>
          </a:p>
          <a:p>
            <a:pPr>
              <a:defRPr/>
            </a:pPr>
            <a:r>
              <a:rPr/>
              <a:t>Target: stroke (0 = No Stroke, 1 = Stroke) – only 4.87% positive cases</a:t>
            </a:r>
            <a:endParaRPr/>
          </a:p>
          <a:p>
            <a:pPr>
              <a:defRPr/>
            </a:pPr>
            <a:r>
              <a:rPr/>
              <a:t>Why chosen: Meets all project requirements and has real-world medical value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3331723" name="Title 1"/>
          <p:cNvSpPr>
            <a:spLocks noGrp="1"/>
          </p:cNvSpPr>
          <p:nvPr>
            <p:ph type="title"/>
          </p:nvPr>
        </p:nvSpPr>
        <p:spPr bwMode="auto"/>
        <p:txBody>
          <a:bodyPr/>
          <a:lstStyle/>
          <a:p>
            <a:pPr>
              <a:defRPr/>
            </a:pPr>
            <a:r>
              <a:rPr/>
              <a:t>Dataset Summary</a:t>
            </a:r>
            <a:endParaRPr/>
          </a:p>
        </p:txBody>
      </p:sp>
      <p:sp>
        <p:nvSpPr>
          <p:cNvPr id="198244331" name="Content Placeholder 2"/>
          <p:cNvSpPr>
            <a:spLocks noGrp="1"/>
          </p:cNvSpPr>
          <p:nvPr>
            <p:ph idx="1"/>
          </p:nvPr>
        </p:nvSpPr>
        <p:spPr bwMode="auto"/>
        <p:txBody>
          <a:bodyPr/>
          <a:lstStyle/>
          <a:p>
            <a:pPr>
              <a:defRPr/>
            </a:pPr>
            <a:r>
              <a:rPr/>
              <a:t>Dataset Description</a:t>
            </a:r>
            <a:endParaRPr/>
          </a:p>
        </p:txBody>
      </p:sp>
      <p:pic>
        <p:nvPicPr>
          <p:cNvPr id="1538670497" name=""/>
          <p:cNvPicPr>
            <a:picLocks noChangeAspect="1"/>
          </p:cNvPicPr>
          <p:nvPr/>
        </p:nvPicPr>
        <p:blipFill rotWithShape="1">
          <a:blip r:embed="rId3"/>
          <a:stretch/>
        </p:blipFill>
        <p:spPr bwMode="auto">
          <a:xfrm rot="0" flipH="0" flipV="0">
            <a:off x="1593272" y="2320636"/>
            <a:ext cx="5333999" cy="3581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4546948" name="Title 1"/>
          <p:cNvSpPr>
            <a:spLocks noGrp="1"/>
          </p:cNvSpPr>
          <p:nvPr>
            <p:ph type="title"/>
          </p:nvPr>
        </p:nvSpPr>
        <p:spPr bwMode="auto"/>
        <p:txBody>
          <a:bodyPr/>
          <a:lstStyle/>
          <a:p>
            <a:pPr>
              <a:defRPr/>
            </a:pPr>
            <a:r>
              <a:rPr/>
              <a:t>Data Preprocessing &amp; EDA (Deliverable 1)</a:t>
            </a:r>
            <a:endParaRPr/>
          </a:p>
        </p:txBody>
      </p:sp>
      <p:sp>
        <p:nvSpPr>
          <p:cNvPr id="974953798" name="Content Placeholder 2"/>
          <p:cNvSpPr>
            <a:spLocks noGrp="1"/>
          </p:cNvSpPr>
          <p:nvPr>
            <p:ph idx="1"/>
          </p:nvPr>
        </p:nvSpPr>
        <p:spPr bwMode="auto"/>
        <p:txBody>
          <a:bodyPr/>
          <a:lstStyle/>
          <a:p>
            <a:pPr>
              <a:defRPr/>
            </a:pPr>
            <a:r>
              <a:rPr/>
              <a:t>Dropped irrelevant 'id' column</a:t>
            </a:r>
            <a:endParaRPr/>
          </a:p>
          <a:p>
            <a:pPr>
              <a:defRPr/>
            </a:pPr>
            <a:r>
              <a:rPr/>
              <a:t>Imputed 201 missing BMI values with median</a:t>
            </a:r>
            <a:endParaRPr/>
          </a:p>
          <a:p>
            <a:pPr>
              <a:defRPr/>
            </a:pPr>
            <a:r>
              <a:rPr/>
              <a:t>EDA Highlights (Figure 1):</a:t>
            </a:r>
            <a:endParaRPr/>
          </a:p>
          <a:p>
            <a:pPr>
              <a:defRPr/>
            </a:pPr>
            <a:r>
              <a:rPr/>
              <a:t>Age distribution is multimodal (peaks at 40–50 and 60–70)</a:t>
            </a:r>
            <a:endParaRPr/>
          </a:p>
          <a:p>
            <a:pPr>
              <a:defRPr/>
            </a:pPr>
            <a:r>
              <a:rPr/>
              <a:t>Severe class imbalance: 95.13% non-stroke vs 4.87% stroke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5723216"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upright="0" compatLnSpc="0">
            <a:normAutofit fontScale="90000" lnSpcReduction="2000"/>
          </a:bodyPr>
          <a:lstStyle/>
          <a:p>
            <a:pPr>
              <a:defRPr/>
            </a:pPr>
            <a:r>
              <a:rPr/>
              <a:t>Age Distribution and Stroke Distribution</a:t>
            </a:r>
            <a:endParaRPr/>
          </a:p>
        </p:txBody>
      </p:sp>
      <p:pic>
        <p:nvPicPr>
          <p:cNvPr id="852292003" name=""/>
          <p:cNvPicPr>
            <a:picLocks noChangeAspect="1"/>
          </p:cNvPicPr>
          <p:nvPr>
            <p:ph idx="1"/>
          </p:nvPr>
        </p:nvPicPr>
        <p:blipFill rotWithShape="1">
          <a:blip r:embed="rId3"/>
          <a:stretch/>
        </p:blipFill>
        <p:spPr bwMode="auto">
          <a:xfrm rot="0">
            <a:off x="457200" y="1938846"/>
            <a:ext cx="8229600" cy="38486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0582546" name="Title 1"/>
          <p:cNvSpPr>
            <a:spLocks noGrp="1"/>
          </p:cNvSpPr>
          <p:nvPr>
            <p:ph type="title"/>
          </p:nvPr>
        </p:nvSpPr>
        <p:spPr bwMode="auto"/>
        <p:txBody>
          <a:bodyPr/>
          <a:lstStyle/>
          <a:p>
            <a:pPr>
              <a:defRPr/>
            </a:pPr>
            <a:r>
              <a:rPr/>
              <a:t>Regression Modeling (Deliverable 2)</a:t>
            </a:r>
            <a:endParaRPr/>
          </a:p>
        </p:txBody>
      </p:sp>
      <p:sp>
        <p:nvSpPr>
          <p:cNvPr id="1697058469" name="Content Placeholder 2"/>
          <p:cNvSpPr>
            <a:spLocks noGrp="1"/>
          </p:cNvSpPr>
          <p:nvPr>
            <p:ph idx="1"/>
          </p:nvPr>
        </p:nvSpPr>
        <p:spPr bwMode="auto"/>
        <p:txBody>
          <a:bodyPr/>
          <a:lstStyle/>
          <a:p>
            <a:pPr>
              <a:defRPr/>
            </a:pPr>
            <a:r>
              <a:rPr/>
              <a:t>Target: avg_glucose_level (continuous)</a:t>
            </a:r>
            <a:endParaRPr/>
          </a:p>
          <a:p>
            <a:pPr>
              <a:defRPr/>
            </a:pPr>
            <a:r>
              <a:rPr/>
              <a:t>Model: Multiple Linear Regression (OLS)</a:t>
            </a:r>
            <a:endParaRPr/>
          </a:p>
          <a:p>
            <a:pPr>
              <a:defRPr/>
            </a:pPr>
            <a:r>
              <a:rPr/>
              <a:t>Result: R² = 0.0981</a:t>
            </a:r>
            <a:endParaRPr/>
          </a:p>
          <a:p>
            <a:pPr>
              <a:defRPr/>
            </a:pPr>
            <a:r>
              <a:rPr/>
              <a:t>Insight: Age, hypertension, and heart disease explain only ~10% of glucose variance</a:t>
            </a:r>
            <a:endParaRPr/>
          </a:p>
        </p:txBody>
      </p:sp>
      <p:pic>
        <p:nvPicPr>
          <p:cNvPr id="967090903" name=""/>
          <p:cNvPicPr>
            <a:picLocks noChangeAspect="1"/>
          </p:cNvPicPr>
          <p:nvPr/>
        </p:nvPicPr>
        <p:blipFill rotWithShape="1">
          <a:blip r:embed="rId3"/>
          <a:stretch/>
        </p:blipFill>
        <p:spPr bwMode="auto">
          <a:xfrm rot="0" flipH="0" flipV="0">
            <a:off x="1766454" y="4381499"/>
            <a:ext cx="5314949" cy="23717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4748987" name="Title 1"/>
          <p:cNvSpPr>
            <a:spLocks noGrp="1"/>
          </p:cNvSpPr>
          <p:nvPr>
            <p:ph type="title"/>
          </p:nvPr>
        </p:nvSpPr>
        <p:spPr bwMode="auto"/>
        <p:txBody>
          <a:bodyPr/>
          <a:lstStyle/>
          <a:p>
            <a:pPr>
              <a:defRPr/>
            </a:pPr>
            <a:r>
              <a:rPr/>
              <a:t>Classification Results (Deliverable 3)</a:t>
            </a:r>
            <a:endParaRPr/>
          </a:p>
        </p:txBody>
      </p:sp>
      <p:sp>
        <p:nvSpPr>
          <p:cNvPr id="1667635047" name="Content Placeholder 2"/>
          <p:cNvSpPr>
            <a:spLocks noGrp="1"/>
          </p:cNvSpPr>
          <p:nvPr>
            <p:ph idx="1"/>
          </p:nvPr>
        </p:nvSpPr>
        <p:spPr bwMode="auto"/>
        <p:txBody>
          <a:bodyPr/>
          <a:lstStyle/>
          <a:p>
            <a:pPr>
              <a:defRPr/>
            </a:pPr>
            <a:r>
              <a:rPr/>
              <a:t>Tuned Decision Tree (best model)</a:t>
            </a:r>
            <a:endParaRPr/>
          </a:p>
          <a:p>
            <a:pPr>
              <a:defRPr/>
            </a:pPr>
            <a:r>
              <a:rPr/>
              <a:t>Accuracy: 92.27%</a:t>
            </a:r>
            <a:endParaRPr/>
          </a:p>
          <a:p>
            <a:pPr>
              <a:defRPr/>
            </a:pPr>
            <a:r>
              <a:rPr/>
              <a:t>F1-score: 0.1684</a:t>
            </a:r>
            <a:endParaRPr/>
          </a:p>
          <a:p>
            <a:pPr>
              <a:defRPr/>
            </a:pPr>
            <a:r>
              <a:rPr/>
              <a:t>Confusion Matrix (Figure 2): Strong on non-stroke, weaker on actual strokes</a:t>
            </a:r>
            <a:endParaRPr/>
          </a:p>
          <a:p>
            <a:pPr>
              <a:defRPr/>
            </a:pPr>
            <a:r>
              <a:rPr/>
              <a:t>ROC Curve (Figure 3): AUC = 0.607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9882529"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Confusion matrix and ROC curve</a:t>
            </a:r>
            <a:endParaRPr/>
          </a:p>
        </p:txBody>
      </p:sp>
      <p:sp>
        <p:nvSpPr>
          <p:cNvPr id="1997978509" name="Content Placeholder 2"/>
          <p:cNvSpPr>
            <a:spLocks noGrp="1"/>
          </p:cNvSpPr>
          <p:nvPr>
            <p:ph idx="1"/>
          </p:nvPr>
        </p:nvSpPr>
        <p:spPr bwMode="auto"/>
        <p:txBody>
          <a:bodyPr/>
          <a:lstStyle/>
          <a:p>
            <a:pPr>
              <a:defRPr/>
            </a:pPr>
            <a:r>
              <a:rPr/>
              <a:t>Confusion matrix and ROC curve</a:t>
            </a:r>
            <a:endParaRPr/>
          </a:p>
        </p:txBody>
      </p:sp>
      <p:pic>
        <p:nvPicPr>
          <p:cNvPr id="89538718" name=""/>
          <p:cNvPicPr>
            <a:picLocks noChangeAspect="1"/>
          </p:cNvPicPr>
          <p:nvPr/>
        </p:nvPicPr>
        <p:blipFill rotWithShape="1">
          <a:blip r:embed="rId3"/>
          <a:stretch/>
        </p:blipFill>
        <p:spPr bwMode="auto">
          <a:xfrm rot="0" flipH="0" flipV="0">
            <a:off x="249381" y="1982787"/>
            <a:ext cx="4943475" cy="4143375"/>
          </a:xfrm>
          <a:prstGeom prst="rect">
            <a:avLst/>
          </a:prstGeom>
        </p:spPr>
      </p:pic>
      <p:pic>
        <p:nvPicPr>
          <p:cNvPr id="1082213565" name=""/>
          <p:cNvPicPr>
            <a:picLocks noChangeAspect="1"/>
          </p:cNvPicPr>
          <p:nvPr/>
        </p:nvPicPr>
        <p:blipFill rotWithShape="1">
          <a:blip r:embed="rId4"/>
          <a:stretch/>
        </p:blipFill>
        <p:spPr bwMode="auto">
          <a:xfrm rot="0" flipH="0" flipV="0">
            <a:off x="4491395" y="2270293"/>
            <a:ext cx="4619740" cy="363520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750629" name="Title 1"/>
          <p:cNvSpPr>
            <a:spLocks noGrp="1"/>
          </p:cNvSpPr>
          <p:nvPr>
            <p:ph type="title"/>
          </p:nvPr>
        </p:nvSpPr>
        <p:spPr bwMode="auto"/>
        <p:txBody>
          <a:bodyPr/>
          <a:lstStyle/>
          <a:p>
            <a:pPr>
              <a:defRPr/>
            </a:pPr>
            <a:r>
              <a:rPr/>
              <a:t>Clustering &amp; Association Rules (Deliverable 3)</a:t>
            </a:r>
            <a:endParaRPr/>
          </a:p>
        </p:txBody>
      </p:sp>
      <p:sp>
        <p:nvSpPr>
          <p:cNvPr id="1945738298" name="Content Placeholder 2"/>
          <p:cNvSpPr>
            <a:spLocks noGrp="1"/>
          </p:cNvSpPr>
          <p:nvPr>
            <p:ph idx="1"/>
          </p:nvPr>
        </p:nvSpPr>
        <p:spPr bwMode="auto"/>
        <p:txBody>
          <a:bodyPr/>
          <a:lstStyle/>
          <a:p>
            <a:pPr>
              <a:defRPr/>
            </a:pPr>
            <a:r>
              <a:rPr/>
              <a:t>K-Means: 4 clusters chosen via Elbow Method (Figure 4)</a:t>
            </a:r>
            <a:endParaRPr/>
          </a:p>
          <a:p>
            <a:pPr>
              <a:defRPr/>
            </a:pPr>
            <a:r>
              <a:rPr/>
              <a:t>PCA visualization (Figure 5) shows clear patient groups</a:t>
            </a:r>
            <a:endParaRPr/>
          </a:p>
          <a:p>
            <a:pPr>
              <a:defRPr/>
            </a:pPr>
            <a:r>
              <a:rPr/>
              <a:t>Highest-risk cluster: 13.4% stroke rate</a:t>
            </a:r>
            <a:endParaRPr/>
          </a:p>
          <a:p>
            <a:pPr>
              <a:defRPr/>
            </a:pPr>
            <a:r>
              <a:rPr/>
              <a:t>Top association rules link young unmarried males with low BMI and unknown smoking status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0019743"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Elbow plot and PCA plot</a:t>
            </a:r>
            <a:endParaRPr/>
          </a:p>
        </p:txBody>
      </p:sp>
      <p:sp>
        <p:nvSpPr>
          <p:cNvPr id="1927901711" name="Content Placeholder 2"/>
          <p:cNvSpPr>
            <a:spLocks noGrp="1"/>
          </p:cNvSpPr>
          <p:nvPr>
            <p:ph idx="1"/>
          </p:nvPr>
        </p:nvSpPr>
        <p:spPr bwMode="auto"/>
        <p:txBody>
          <a:bodyPr/>
          <a:lstStyle/>
          <a:p>
            <a:pPr>
              <a:defRPr/>
            </a:pPr>
            <a:r>
              <a:rPr/>
              <a:t>Elbow plot and PCA plot</a:t>
            </a:r>
            <a:endParaRPr/>
          </a:p>
        </p:txBody>
      </p:sp>
      <p:pic>
        <p:nvPicPr>
          <p:cNvPr id="1012175211" name=""/>
          <p:cNvPicPr>
            <a:picLocks noChangeAspect="1"/>
          </p:cNvPicPr>
          <p:nvPr/>
        </p:nvPicPr>
        <p:blipFill rotWithShape="1">
          <a:blip r:embed="rId3"/>
          <a:stretch/>
        </p:blipFill>
        <p:spPr bwMode="auto">
          <a:xfrm rot="0" flipH="0" flipV="0">
            <a:off x="51954" y="2199408"/>
            <a:ext cx="4626613" cy="3574039"/>
          </a:xfrm>
          <a:prstGeom prst="rect">
            <a:avLst/>
          </a:prstGeom>
        </p:spPr>
      </p:pic>
      <p:pic>
        <p:nvPicPr>
          <p:cNvPr id="664569476" name=""/>
          <p:cNvPicPr>
            <a:picLocks noChangeAspect="1"/>
          </p:cNvPicPr>
          <p:nvPr/>
        </p:nvPicPr>
        <p:blipFill rotWithShape="1">
          <a:blip r:embed="rId4"/>
          <a:stretch/>
        </p:blipFill>
        <p:spPr bwMode="auto">
          <a:xfrm rot="0" flipH="0" flipV="0">
            <a:off x="4765159" y="2389908"/>
            <a:ext cx="4446680" cy="34183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4468386" name="Title 1"/>
          <p:cNvSpPr>
            <a:spLocks noGrp="1"/>
          </p:cNvSpPr>
          <p:nvPr>
            <p:ph type="title"/>
          </p:nvPr>
        </p:nvSpPr>
        <p:spPr bwMode="auto"/>
        <p:txBody>
          <a:bodyPr/>
          <a:lstStyle/>
          <a:p>
            <a:pPr>
              <a:defRPr/>
            </a:pPr>
            <a:r>
              <a:rPr/>
              <a:t>Key Insights, Recommendations &amp; Ethics</a:t>
            </a:r>
            <a:endParaRPr/>
          </a:p>
        </p:txBody>
      </p:sp>
      <p:sp>
        <p:nvSpPr>
          <p:cNvPr id="874993255" name="Content Placeholder 2"/>
          <p:cNvSpPr>
            <a:spLocks noGrp="1"/>
          </p:cNvSpPr>
          <p:nvPr>
            <p:ph idx="1"/>
          </p:nvPr>
        </p:nvSpPr>
        <p:spPr bwMode="auto"/>
        <p:txBody>
          <a:bodyPr/>
          <a:lstStyle/>
          <a:p>
            <a:pPr>
              <a:defRPr/>
            </a:pPr>
            <a:r>
              <a:rPr/>
              <a:t>Dominant predictors: age, hypertension, glucose level</a:t>
            </a:r>
            <a:endParaRPr/>
          </a:p>
          <a:p>
            <a:pPr>
              <a:defRPr/>
            </a:pPr>
            <a:r>
              <a:rPr/>
              <a:t>Practical recommendations:</a:t>
            </a:r>
            <a:endParaRPr/>
          </a:p>
          <a:p>
            <a:pPr>
              <a:defRPr/>
            </a:pPr>
            <a:r>
              <a:rPr/>
              <a:t>Deploy Decision Tree as hospital screening tool</a:t>
            </a:r>
            <a:endParaRPr/>
          </a:p>
          <a:p>
            <a:pPr>
              <a:defRPr/>
            </a:pPr>
            <a:r>
              <a:rPr/>
              <a:t>Target high-risk Cluster 1 for prevention programs</a:t>
            </a:r>
            <a:endParaRPr/>
          </a:p>
          <a:p>
            <a:pPr>
              <a:defRPr/>
            </a:pPr>
            <a:r>
              <a:rPr/>
              <a:t>Use rules for public health campaigns</a:t>
            </a:r>
            <a:endParaRPr/>
          </a:p>
          <a:p>
            <a:pPr>
              <a:defRPr/>
            </a:pPr>
            <a:r>
              <a:rPr/>
              <a:t>Ethical focus: Privacy protected, fairness via F1-score and stratified sampling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9952014" name="Title 1"/>
          <p:cNvSpPr>
            <a:spLocks noGrp="1"/>
          </p:cNvSpPr>
          <p:nvPr>
            <p:ph type="title"/>
          </p:nvPr>
        </p:nvSpPr>
        <p:spPr bwMode="auto"/>
        <p:txBody>
          <a:bodyPr/>
          <a:lstStyle/>
          <a:p>
            <a:pPr>
              <a:defRPr/>
            </a:pPr>
            <a:r>
              <a:rPr/>
              <a:t>Conclusion &amp; Future Work</a:t>
            </a:r>
            <a:endParaRPr/>
          </a:p>
        </p:txBody>
      </p:sp>
      <p:sp>
        <p:nvSpPr>
          <p:cNvPr id="1491199479" name="Content Placeholder 2"/>
          <p:cNvSpPr>
            <a:spLocks noGrp="1"/>
          </p:cNvSpPr>
          <p:nvPr>
            <p:ph idx="1"/>
          </p:nvPr>
        </p:nvSpPr>
        <p:spPr bwMode="auto"/>
        <p:txBody>
          <a:bodyPr/>
          <a:lstStyle/>
          <a:p>
            <a:pPr>
              <a:defRPr/>
            </a:pPr>
            <a:r>
              <a:rPr/>
              <a:t>Successfully completed full data mining lifecycle</a:t>
            </a:r>
            <a:endParaRPr/>
          </a:p>
          <a:p>
            <a:pPr>
              <a:defRPr/>
            </a:pPr>
            <a:r>
              <a:rPr/>
              <a:t>Actionable insights for stroke prevention</a:t>
            </a:r>
            <a:endParaRPr/>
          </a:p>
          <a:p>
            <a:pPr>
              <a:defRPr/>
            </a:pPr>
            <a:r>
              <a:rPr/>
              <a:t>GitHub repo: MSCS_634_Project (includes notebook, report, video)</a:t>
            </a:r>
            <a:endParaRPr/>
          </a:p>
          <a:p>
            <a:pPr>
              <a:defRPr/>
            </a:pPr>
            <a:r>
              <a:rPr/>
              <a:t>Future improvements: Ensemble methods, deep learning, fairness metrics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2026-04-18T13:32:12Z</dcterms:modified>
  <cp:category/>
</cp:coreProperties>
</file>